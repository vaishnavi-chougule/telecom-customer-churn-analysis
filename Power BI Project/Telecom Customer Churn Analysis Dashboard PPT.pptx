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57" r:id="rId4"/>
    <p:sldId id="260" r:id="rId5"/>
    <p:sldId id="261" r:id="rId6"/>
    <p:sldId id="266" r:id="rId7"/>
    <p:sldId id="264" r:id="rId8"/>
    <p:sldId id="267" r:id="rId9"/>
    <p:sldId id="269" r:id="rId10"/>
    <p:sldId id="262" r:id="rId11"/>
    <p:sldId id="265" r:id="rId12"/>
    <p:sldId id="270" r:id="rId13"/>
    <p:sldId id="268" r:id="rId14"/>
    <p:sldId id="271" r:id="rId15"/>
    <p:sldId id="259" r:id="rId16"/>
  </p:sldIdLst>
  <p:sldSz cx="12192000" cy="6858000"/>
  <p:notesSz cx="6858000" cy="9144000"/>
  <p:embeddedFontLs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EE9FCB5-1E67-46DE-AE02-0CE45D1CE168}">
          <p14:sldIdLst>
            <p14:sldId id="256"/>
            <p14:sldId id="263"/>
            <p14:sldId id="257"/>
            <p14:sldId id="260"/>
            <p14:sldId id="261"/>
            <p14:sldId id="266"/>
            <p14:sldId id="264"/>
            <p14:sldId id="267"/>
            <p14:sldId id="269"/>
            <p14:sldId id="262"/>
            <p14:sldId id="265"/>
            <p14:sldId id="270"/>
            <p14:sldId id="268"/>
            <p14:sldId id="271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D9A68-90B7-42BD-A0CF-180CBC88A5DE}" v="103" dt="2025-12-12T19:25:19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9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vaishnavi-chougule-3b7206323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pp.powerbi.com/groups/me/reports/37680801-9757-4999-9180-9bba77c27a35?pbi_source=desktop&amp;noSignUpCheck=1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4130941"/>
            <a:ext cx="72461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IN" sz="3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elecom </a:t>
            </a:r>
            <a:r>
              <a:rPr lang="en-IN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IN" sz="3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ustomer </a:t>
            </a:r>
            <a:r>
              <a:rPr lang="en-IN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IN" sz="3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hurn </a:t>
            </a:r>
            <a:r>
              <a:rPr lang="en-IN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IN" sz="3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nalysis</a:t>
            </a:r>
            <a:endParaRPr lang="en-IN"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CA24C-79F6-8C5C-AC85-B3A2E3C042EE}"/>
              </a:ext>
            </a:extLst>
          </p:cNvPr>
          <p:cNvSpPr txBox="1"/>
          <p:nvPr/>
        </p:nvSpPr>
        <p:spPr>
          <a:xfrm>
            <a:off x="2782529" y="5496233"/>
            <a:ext cx="704972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Presented By</a:t>
            </a:r>
          </a:p>
          <a:p>
            <a:endParaRPr lang="en-IN" i="1" dirty="0"/>
          </a:p>
          <a:p>
            <a:pPr algn="ctr"/>
            <a:r>
              <a:rPr lang="en-IN" sz="2400" i="1" dirty="0"/>
              <a:t>Vaishnavi </a:t>
            </a:r>
            <a:r>
              <a:rPr lang="en-IN" sz="2400" i="1" dirty="0" err="1"/>
              <a:t>Chougule</a:t>
            </a:r>
            <a:endParaRPr lang="en-IN" sz="2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C8464-1D88-0B31-3DB1-A731B0B3B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About</a:t>
            </a:r>
            <a:r>
              <a:rPr lang="en-US" sz="32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  <a:endParaRPr lang="en-IN" sz="3200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250-4959-633B-2D46-197857598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4503"/>
            <a:ext cx="10515600" cy="3323303"/>
          </a:xfrm>
        </p:spPr>
        <p:txBody>
          <a:bodyPr>
            <a:normAutofit/>
          </a:bodyPr>
          <a:lstStyle/>
          <a:p>
            <a:pPr marL="114300" lvl="0" indent="0">
              <a:spcBef>
                <a:spcPts val="0"/>
              </a:spcBef>
              <a:buNone/>
            </a:pPr>
            <a:r>
              <a:rPr lang="en-IN" sz="2400" b="1" dirty="0"/>
              <a:t>Vaishnavi Mahadev </a:t>
            </a:r>
            <a:r>
              <a:rPr lang="en-IN" sz="2400" b="1" dirty="0" err="1"/>
              <a:t>Chougule</a:t>
            </a:r>
            <a:endParaRPr lang="en-IN" sz="2400" b="1" dirty="0"/>
          </a:p>
          <a:p>
            <a:pPr marL="114300" lvl="0" indent="0">
              <a:spcBef>
                <a:spcPts val="0"/>
              </a:spcBef>
              <a:buNone/>
            </a:pPr>
            <a:r>
              <a:rPr lang="en-IN" sz="2400" dirty="0"/>
              <a:t>B. Sc. In Computer Science (Shivaji University, Kolhapur)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US" sz="2400" b="1" dirty="0"/>
              <a:t>Profiles:</a:t>
            </a:r>
          </a:p>
          <a:p>
            <a:pPr marL="114300" indent="0">
              <a:buNone/>
            </a:pPr>
            <a:r>
              <a:rPr lang="en-US" sz="2400" dirty="0"/>
              <a:t>LinkedIn: </a:t>
            </a:r>
            <a:r>
              <a:rPr lang="en-IN" sz="2400" u="sng" dirty="0">
                <a:solidFill>
                  <a:srgbClr val="0070C0"/>
                </a:solidFill>
                <a:hlinkClick r:id="rId2"/>
              </a:rPr>
              <a:t>www.linkedin.com/in/vaishnavi-chougule-3b7206323</a:t>
            </a:r>
            <a:endParaRPr lang="en-IN" sz="2400" u="sng" dirty="0">
              <a:solidFill>
                <a:srgbClr val="0070C0"/>
              </a:solidFill>
            </a:endParaRPr>
          </a:p>
          <a:p>
            <a:pPr marL="114300" indent="0">
              <a:buNone/>
            </a:pPr>
            <a:r>
              <a:rPr lang="en-IN" sz="2400" dirty="0" err="1">
                <a:solidFill>
                  <a:schemeClr val="tx1"/>
                </a:solidFill>
              </a:rPr>
              <a:t>Github</a:t>
            </a:r>
            <a:r>
              <a:rPr lang="en-IN" sz="2400" u="sng" dirty="0">
                <a:solidFill>
                  <a:srgbClr val="0070C0"/>
                </a:solidFill>
              </a:rPr>
              <a:t>: https://github.com/vaishnavi-chougule</a:t>
            </a:r>
            <a:endParaRPr lang="en-IN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219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-1161939" y="475547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US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INDEX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ED89D8-4B7F-D79D-5606-0DDFEBF759F7}"/>
              </a:ext>
            </a:extLst>
          </p:cNvPr>
          <p:cNvSpPr txBox="1"/>
          <p:nvPr/>
        </p:nvSpPr>
        <p:spPr>
          <a:xfrm>
            <a:off x="1115094" y="1374565"/>
            <a:ext cx="69531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Aptos Narrow" panose="020B0004020202020204" pitchFamily="34" charset="0"/>
              </a:rPr>
              <a:t>Project Objective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2. Purpose of Dataset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3. Data Preparation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4. Key Visuals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5. Dashboard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6. Key Insights from Analysis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7. Experience &amp; Challenges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8.Conclusion</a:t>
            </a:r>
            <a:endParaRPr lang="en-IN" sz="2400" dirty="0">
              <a:latin typeface="Aptos Narrow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3B67-CA94-283D-F083-2B94CC7E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934"/>
            <a:ext cx="10515600" cy="85540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Project Objective 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3BA21-C46E-515B-57B0-232B8FF07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82995"/>
            <a:ext cx="10515600" cy="307749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ptos Narrow" panose="020B0004020202020204" pitchFamily="34" charset="0"/>
                <a:cs typeface="Arial" panose="020B0604020202020204" pitchFamily="34" charset="0"/>
              </a:rPr>
              <a:t>To transform raw telecom customer data into meaningful insights that reveal churn drivers, high-risk segments, and opportunities to reduce customer loss.</a:t>
            </a:r>
          </a:p>
          <a:p>
            <a:r>
              <a:rPr lang="en-US" sz="2400" dirty="0">
                <a:latin typeface="Aptos Narrow" panose="020B0004020202020204" pitchFamily="34" charset="0"/>
                <a:cs typeface="Arial" panose="020B0604020202020204" pitchFamily="34" charset="0"/>
              </a:rPr>
              <a:t> To identify churn trends across demographics, services, contracts, and payments, enabling data-driven strategies for improving loyalty and long-term profitability.</a:t>
            </a:r>
            <a:endParaRPr lang="en-IN" dirty="0">
              <a:latin typeface="Aptos Narrow" panose="020B00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ptos Narrow" panose="020B0004020202020204" pitchFamily="34" charset="0"/>
                <a:cs typeface="Arial" panose="020B0604020202020204" pitchFamily="34" charset="0"/>
              </a:rPr>
              <a:t>To build an analytical dashboard that helps stakeholders understand who is churning, why they churn, and how to minimize churn effectively</a:t>
            </a:r>
            <a:r>
              <a:rPr lang="en-US" sz="2400" dirty="0">
                <a:latin typeface="Aptos Narrow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5093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28A6-3AE3-DC66-838E-BDE0C293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8929"/>
            <a:ext cx="10515600" cy="757083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Purposes of the Dataset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6525E-DBED-B5DD-A0F3-5FA3DDD17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89471"/>
            <a:ext cx="10515600" cy="309716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ptos Narrow" panose="020B0004020202020204" pitchFamily="34" charset="0"/>
              </a:rPr>
              <a:t>To analyze customer churn patterns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To understand customer demographics &amp; behavior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To evaluate service subscription trends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To study billing &amp; payment behavior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To identify high-risk customer segments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To support churn prediction &amp;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390090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D1D1-16A1-3F0E-625B-2073F703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08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Data Preparation </a:t>
            </a:r>
            <a:r>
              <a:rPr lang="en-US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  <a:endParaRPr lang="en-IN" sz="3200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09255-9F46-C001-7269-15354F6B6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7" name="Picture 6" descr="A diagram of data flow&#10;&#10;AI-generated content may be incorrect.">
            <a:extLst>
              <a:ext uri="{FF2B5EF4-FFF2-40B4-BE49-F238E27FC236}">
                <a16:creationId xmlns:a16="http://schemas.microsoft.com/office/drawing/2014/main" id="{9CE8BC5E-AAF3-8CAE-5374-2C80E3D0C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1160206"/>
            <a:ext cx="10953135" cy="533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35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B88C-7024-DA4A-62BB-FDFE345777A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8425"/>
            <a:ext cx="10941050" cy="58261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Visuals:</a:t>
            </a:r>
            <a:endParaRPr lang="en-IN" sz="3200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2DBAD-2565-7138-471C-945643FAC56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681038"/>
            <a:ext cx="5607050" cy="204013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>
                <a:solidFill>
                  <a:srgbClr val="7030A0"/>
                </a:solidFill>
              </a:rPr>
              <a:t>   </a:t>
            </a:r>
          </a:p>
          <a:p>
            <a:pPr marL="114300" indent="0">
              <a:buNone/>
            </a:pPr>
            <a:r>
              <a:rPr lang="en-IN" sz="2400" b="1" dirty="0">
                <a:solidFill>
                  <a:srgbClr val="7030A0"/>
                </a:solidFill>
              </a:rPr>
              <a:t>                       </a:t>
            </a:r>
            <a:r>
              <a:rPr lang="en-IN" sz="2400" b="1" dirty="0">
                <a:solidFill>
                  <a:schemeClr val="tx1"/>
                </a:solidFill>
              </a:rPr>
              <a:t>Cards </a:t>
            </a:r>
            <a:r>
              <a:rPr lang="en-IN" sz="2400" b="1" dirty="0">
                <a:solidFill>
                  <a:srgbClr val="7030A0"/>
                </a:solidFill>
              </a:rPr>
              <a:t> </a:t>
            </a:r>
          </a:p>
        </p:txBody>
      </p:sp>
      <p:pic>
        <p:nvPicPr>
          <p:cNvPr id="6" name="Picture 5" descr="A blue background with white text and a person's head&#10;&#10;AI-generated content may be incorrect.">
            <a:extLst>
              <a:ext uri="{FF2B5EF4-FFF2-40B4-BE49-F238E27FC236}">
                <a16:creationId xmlns:a16="http://schemas.microsoft.com/office/drawing/2014/main" id="{D946FD00-2729-3F47-FAC0-C1D5FD580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880" y="646962"/>
            <a:ext cx="1641987" cy="10207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blue background with white text and numbers&#10;&#10;AI-generated content may be incorrect.">
            <a:extLst>
              <a:ext uri="{FF2B5EF4-FFF2-40B4-BE49-F238E27FC236}">
                <a16:creationId xmlns:a16="http://schemas.microsoft.com/office/drawing/2014/main" id="{607B9B54-2968-3213-B98C-F5D9CE2E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338" y="608856"/>
            <a:ext cx="1695687" cy="1028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blue background with white text and numbers&#10;&#10;AI-generated content may be incorrect.">
            <a:extLst>
              <a:ext uri="{FF2B5EF4-FFF2-40B4-BE49-F238E27FC236}">
                <a16:creationId xmlns:a16="http://schemas.microsoft.com/office/drawing/2014/main" id="{1DDFC649-A2FE-CEF8-6D87-251CCE3D1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496" y="646962"/>
            <a:ext cx="1867161" cy="990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blue background with white numbers&#10;&#10;AI-generated content may be incorrect.">
            <a:extLst>
              <a:ext uri="{FF2B5EF4-FFF2-40B4-BE49-F238E27FC236}">
                <a16:creationId xmlns:a16="http://schemas.microsoft.com/office/drawing/2014/main" id="{73D24778-71E5-55D3-B4B7-B2A6CFB7C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921" y="1711386"/>
            <a:ext cx="1952898" cy="1009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 descr="A blue rectangle with white text and numbers&#10;&#10;AI-generated content may be incorrect.">
            <a:extLst>
              <a:ext uri="{FF2B5EF4-FFF2-40B4-BE49-F238E27FC236}">
                <a16:creationId xmlns:a16="http://schemas.microsoft.com/office/drawing/2014/main" id="{59B823F0-81AF-CBD7-43C1-55A3EC99E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0182" y="1730438"/>
            <a:ext cx="2257740" cy="971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433EDFB8-CBED-3971-4957-B8E5A17E7FD0}"/>
              </a:ext>
            </a:extLst>
          </p:cNvPr>
          <p:cNvSpPr/>
          <p:nvPr/>
        </p:nvSpPr>
        <p:spPr>
          <a:xfrm>
            <a:off x="2890684" y="1435510"/>
            <a:ext cx="1608629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7" name="Picture 16" descr="A screen shot of a diagram&#10;&#10;AI-generated content may be incorrect.">
            <a:extLst>
              <a:ext uri="{FF2B5EF4-FFF2-40B4-BE49-F238E27FC236}">
                <a16:creationId xmlns:a16="http://schemas.microsoft.com/office/drawing/2014/main" id="{5F916153-2312-B286-C355-732AA4A253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520" y="3429000"/>
            <a:ext cx="3979402" cy="22835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9385EED-C48C-DB73-739E-E244DD5268E8}"/>
              </a:ext>
            </a:extLst>
          </p:cNvPr>
          <p:cNvSpPr txBox="1"/>
          <p:nvPr/>
        </p:nvSpPr>
        <p:spPr>
          <a:xfrm>
            <a:off x="346404" y="4001729"/>
            <a:ext cx="49142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Aptos Narrow" panose="020B0004020202020204" pitchFamily="34" charset="0"/>
              </a:rPr>
              <a:t>Chart Name : </a:t>
            </a:r>
            <a:r>
              <a:rPr lang="en-IN" sz="1800" dirty="0">
                <a:latin typeface="Aptos Narrow" panose="020B0004020202020204" pitchFamily="34" charset="0"/>
              </a:rPr>
              <a:t>Donut Chart</a:t>
            </a:r>
          </a:p>
          <a:p>
            <a:r>
              <a:rPr lang="en-IN" sz="1800" b="1" dirty="0">
                <a:solidFill>
                  <a:schemeClr val="tx1"/>
                </a:solidFill>
                <a:latin typeface="Aptos Narrow" panose="020B0004020202020204" pitchFamily="34" charset="0"/>
              </a:rPr>
              <a:t>Insights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 Narrow" panose="020B0004020202020204" pitchFamily="34" charset="0"/>
              </a:rPr>
              <a:t>Predictive churn models will not be biased towards a single gender.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 Narrow" panose="020B0004020202020204" pitchFamily="34" charset="0"/>
              </a:rPr>
              <a:t>It </a:t>
            </a:r>
            <a:r>
              <a:rPr lang="en-IN" sz="1800" dirty="0" err="1">
                <a:latin typeface="Aptos Narrow" panose="020B0004020202020204" pitchFamily="34" charset="0"/>
              </a:rPr>
              <a:t>strengthnens</a:t>
            </a:r>
            <a:r>
              <a:rPr lang="en-IN" sz="1800" dirty="0">
                <a:latin typeface="Aptos Narrow" panose="020B0004020202020204" pitchFamily="34" charset="0"/>
              </a:rPr>
              <a:t> demographic fairness in churn analysis</a:t>
            </a:r>
          </a:p>
        </p:txBody>
      </p:sp>
    </p:spTree>
    <p:extLst>
      <p:ext uri="{BB962C8B-B14F-4D97-AF65-F5344CB8AC3E}">
        <p14:creationId xmlns:p14="http://schemas.microsoft.com/office/powerpoint/2010/main" val="705235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932010-08A9-180F-E319-CA26144D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267" y="470849"/>
            <a:ext cx="4677428" cy="25340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EC95B3-17E1-2085-4563-08CAAB01C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267" y="3971135"/>
            <a:ext cx="4677428" cy="16766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BC1D0E-2721-0566-D76E-6C719AA673F8}"/>
              </a:ext>
            </a:extLst>
          </p:cNvPr>
          <p:cNvSpPr txBox="1"/>
          <p:nvPr/>
        </p:nvSpPr>
        <p:spPr>
          <a:xfrm>
            <a:off x="532305" y="873972"/>
            <a:ext cx="56928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Aptos Narrow" panose="020B0004020202020204" pitchFamily="34" charset="0"/>
              </a:rPr>
              <a:t>Chart Name : </a:t>
            </a:r>
            <a:r>
              <a:rPr lang="en-IN" sz="1800" dirty="0">
                <a:latin typeface="Aptos Narrow" panose="020B0004020202020204" pitchFamily="34" charset="0"/>
              </a:rPr>
              <a:t>Stacked Bar Chart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Insights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Fiber optic customers dominate in almost every tenure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DSL users show moderate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Customers with NO Internet service (green bars) are the least risky</a:t>
            </a:r>
            <a:endParaRPr lang="en-IN" sz="1800" dirty="0">
              <a:latin typeface="Aptos Narrow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61171-E377-D9C4-CDB3-3D06F179E402}"/>
              </a:ext>
            </a:extLst>
          </p:cNvPr>
          <p:cNvSpPr txBox="1"/>
          <p:nvPr/>
        </p:nvSpPr>
        <p:spPr>
          <a:xfrm>
            <a:off x="532305" y="4257368"/>
            <a:ext cx="6035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Aptos Narrow" panose="020B0004020202020204" pitchFamily="34" charset="0"/>
              </a:rPr>
              <a:t>Chart Name : </a:t>
            </a:r>
            <a:r>
              <a:rPr lang="en-IN" sz="1800" dirty="0">
                <a:latin typeface="Aptos Narrow" panose="020B0004020202020204" pitchFamily="34" charset="0"/>
              </a:rPr>
              <a:t>Area Chart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Insights :</a:t>
            </a:r>
            <a:r>
              <a:rPr lang="en-IN" sz="1800" dirty="0">
                <a:latin typeface="Aptos Narrow" panose="020B00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Month-to-Month Customers Have the Highest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Two-Year Contract Customers Show Very Low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Churn Rate Decreases Dramatically with Longer Contracts</a:t>
            </a:r>
            <a:endParaRPr lang="en-IN" sz="18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124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7FD5B6-D5C6-5DF4-448F-5686EF4CE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680" y="304184"/>
            <a:ext cx="4544059" cy="18100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637392-287E-EE8E-8339-F5C694FF7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681" y="2880671"/>
            <a:ext cx="4544058" cy="25911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875C1E-6864-CC7E-9E15-CADD757BC2B3}"/>
              </a:ext>
            </a:extLst>
          </p:cNvPr>
          <p:cNvSpPr txBox="1"/>
          <p:nvPr/>
        </p:nvSpPr>
        <p:spPr>
          <a:xfrm>
            <a:off x="442452" y="304184"/>
            <a:ext cx="54077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Aptos Narrow" panose="020B0004020202020204" pitchFamily="34" charset="0"/>
              </a:rPr>
              <a:t>Chart Name : </a:t>
            </a:r>
            <a:r>
              <a:rPr lang="en-IN" sz="1800" dirty="0">
                <a:latin typeface="Aptos Narrow" panose="020B0004020202020204" pitchFamily="34" charset="0"/>
              </a:rPr>
              <a:t>Stacked Column Chart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Insights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Two-Year Contract Customers Have the Highest Total Charges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Month-to-Month Customers Generate the Lowest Total Charges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Clear Positive Relationship: Longer Contracts → Higher Total Charges</a:t>
            </a:r>
            <a:endParaRPr lang="en-IN" sz="1800" dirty="0">
              <a:latin typeface="Aptos Narrow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59D3F-F2C1-069E-79A7-77D302F25F5F}"/>
              </a:ext>
            </a:extLst>
          </p:cNvPr>
          <p:cNvSpPr txBox="1"/>
          <p:nvPr/>
        </p:nvSpPr>
        <p:spPr>
          <a:xfrm>
            <a:off x="442452" y="3717507"/>
            <a:ext cx="54077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Aptos Narrow" panose="020B0004020202020204" pitchFamily="34" charset="0"/>
              </a:rPr>
              <a:t>Chart Name : </a:t>
            </a:r>
            <a:r>
              <a:rPr lang="en-IN" sz="1800" dirty="0">
                <a:latin typeface="Aptos Narrow" panose="020B0004020202020204" pitchFamily="34" charset="0"/>
              </a:rPr>
              <a:t>Line Chart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Insights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Fiber Optic Customers Have the Highest Churn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Customers Without Internet Service Show the Lowest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 Narrow" panose="020B0004020202020204" pitchFamily="34" charset="0"/>
              </a:rPr>
              <a:t>More Advanced Internet Service = Higher Churn</a:t>
            </a:r>
            <a:endParaRPr lang="en-IN" sz="1800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0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46D8-8925-5FC0-3306-B7F4FA91F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235974"/>
            <a:ext cx="10881852" cy="698091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Dashboard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F1334-7D4D-C500-AAB1-91F50B688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48" y="5742039"/>
            <a:ext cx="10881852" cy="44904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</a:t>
            </a:r>
            <a:r>
              <a:rPr lang="en-US" sz="1400" dirty="0">
                <a:solidFill>
                  <a:srgbClr val="0000FF"/>
                </a:solidFill>
              </a:rPr>
              <a:t>-</a:t>
            </a:r>
            <a:r>
              <a:rPr lang="en-US" sz="1400" dirty="0"/>
              <a:t> </a:t>
            </a:r>
            <a:r>
              <a:rPr lang="en-US" sz="1400" u="sng" dirty="0">
                <a:solidFill>
                  <a:srgbClr val="0000FF"/>
                </a:solidFill>
              </a:rPr>
              <a:t>https://app.powerbi.com/groups/me/reports/37680801-9757-4999-9180-9bba77c27a35?pbi_source=desktop&amp;noSignUpCheck=1</a:t>
            </a:r>
            <a:endParaRPr lang="en-IN" sz="1400" u="sng" dirty="0">
              <a:solidFill>
                <a:srgbClr val="0000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F3CEAC-DC39-D591-32C4-5D7F154BA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07" y="1025012"/>
            <a:ext cx="10353367" cy="480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3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388E-1D86-7BCB-AFB6-651D68E2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2284"/>
            <a:ext cx="10515600" cy="94389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Insights from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3E22-9479-BAB5-8925-74BE83300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1316"/>
            <a:ext cx="10515600" cy="449564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>
                <a:latin typeface="Aptos Narrow" panose="020B0004020202020204" pitchFamily="34" charset="0"/>
              </a:rPr>
              <a:t> </a:t>
            </a:r>
            <a:r>
              <a:rPr lang="en-US" sz="1800" b="1" dirty="0"/>
              <a:t>1. Churn Is Concentrated in Specific Segments</a:t>
            </a:r>
          </a:p>
          <a:p>
            <a:pPr marL="114300" indent="0">
              <a:buNone/>
            </a:pPr>
            <a:r>
              <a:rPr lang="en-US" sz="1800" dirty="0"/>
              <a:t>Majority of churn comes from </a:t>
            </a:r>
            <a:r>
              <a:rPr lang="en-US" sz="1800" b="1" dirty="0"/>
              <a:t>Month-to-Month</a:t>
            </a:r>
            <a:r>
              <a:rPr lang="en-US" sz="1800" dirty="0"/>
              <a:t>, </a:t>
            </a:r>
            <a:r>
              <a:rPr lang="en-US" sz="1800" b="1" dirty="0"/>
              <a:t>Fiber Optic</a:t>
            </a:r>
            <a:r>
              <a:rPr lang="en-US" sz="1800" dirty="0"/>
              <a:t>, and </a:t>
            </a:r>
            <a:r>
              <a:rPr lang="en-US" sz="1800" b="1" dirty="0"/>
              <a:t>Electronic Check</a:t>
            </a:r>
            <a:r>
              <a:rPr lang="en-US" sz="1800" dirty="0"/>
              <a:t> users.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 2. Tenure Strongly Predicts Loyalty</a:t>
            </a:r>
          </a:p>
          <a:p>
            <a:pPr marL="114300" indent="0">
              <a:buNone/>
            </a:pPr>
            <a:r>
              <a:rPr lang="en-US" sz="1800" dirty="0"/>
              <a:t>Customers in their </a:t>
            </a:r>
            <a:r>
              <a:rPr lang="en-US" sz="1800" b="1" dirty="0"/>
              <a:t>first 6 months</a:t>
            </a:r>
            <a:r>
              <a:rPr lang="en-US" sz="1800" dirty="0"/>
              <a:t> are the most unstable.</a:t>
            </a:r>
          </a:p>
          <a:p>
            <a:pPr marL="114300" indent="0">
              <a:buNone/>
            </a:pPr>
            <a:r>
              <a:rPr lang="en-US" sz="1800" dirty="0"/>
              <a:t>Churn steadily drops as tenure increases.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 3. Billing Preferences Influence Customer Retention</a:t>
            </a:r>
          </a:p>
          <a:p>
            <a:pPr marL="114300" indent="0">
              <a:buNone/>
            </a:pPr>
            <a:r>
              <a:rPr lang="en-US" sz="1800" b="1" dirty="0"/>
              <a:t>Paperless billing customers churn nearly 3×</a:t>
            </a:r>
            <a:r>
              <a:rPr lang="en-US" sz="1800" dirty="0"/>
              <a:t> more than non-paperless users.</a:t>
            </a:r>
            <a:br>
              <a:rPr lang="en-US" sz="1800" dirty="0"/>
            </a:br>
            <a:r>
              <a:rPr lang="en-US" sz="1800" dirty="0"/>
              <a:t>➡ Indicates dissatisfaction or weak communication.</a:t>
            </a:r>
          </a:p>
          <a:p>
            <a:pPr marL="114300" indent="0">
              <a:buNone/>
            </a:pPr>
            <a:endParaRPr lang="en-US" sz="1800" dirty="0">
              <a:latin typeface="Aptos Narrow" panose="020B0004020202020204" pitchFamily="34" charset="0"/>
            </a:endParaRP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547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713340-A011-268E-C443-FF3700C7AEEE}"/>
              </a:ext>
            </a:extLst>
          </p:cNvPr>
          <p:cNvSpPr txBox="1"/>
          <p:nvPr/>
        </p:nvSpPr>
        <p:spPr>
          <a:xfrm>
            <a:off x="629265" y="766916"/>
            <a:ext cx="978309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ptos Narrow" panose="020B0004020202020204" pitchFamily="34" charset="0"/>
              </a:rPr>
              <a:t> 4. Internet Reliability Appears to Drive Churn</a:t>
            </a:r>
          </a:p>
          <a:p>
            <a:r>
              <a:rPr lang="en-US" sz="1800" b="1" dirty="0">
                <a:latin typeface="Aptos Narrow" panose="020B0004020202020204" pitchFamily="34" charset="0"/>
              </a:rPr>
              <a:t>Fiber optic</a:t>
            </a:r>
            <a:r>
              <a:rPr lang="en-US" sz="1800" dirty="0">
                <a:latin typeface="Aptos Narrow" panose="020B0004020202020204" pitchFamily="34" charset="0"/>
              </a:rPr>
              <a:t> users churn much higher than DSL.</a:t>
            </a:r>
            <a:br>
              <a:rPr lang="en-US" sz="1800" dirty="0">
                <a:latin typeface="Aptos Narrow" panose="020B0004020202020204" pitchFamily="34" charset="0"/>
              </a:rPr>
            </a:br>
            <a:r>
              <a:rPr lang="en-US" sz="1800" dirty="0">
                <a:latin typeface="Aptos Narrow" panose="020B0004020202020204" pitchFamily="34" charset="0"/>
              </a:rPr>
              <a:t>➡ Possible service quality, speed, or pricing concerns.</a:t>
            </a:r>
          </a:p>
          <a:p>
            <a:endParaRPr lang="en-US" sz="1800" dirty="0">
              <a:latin typeface="Aptos Narrow" panose="020B0004020202020204" pitchFamily="34" charset="0"/>
            </a:endParaRPr>
          </a:p>
          <a:p>
            <a:r>
              <a:rPr lang="en-US" sz="1800" b="1" dirty="0">
                <a:latin typeface="Aptos Narrow" panose="020B0004020202020204" pitchFamily="34" charset="0"/>
              </a:rPr>
              <a:t> 5. Payment Flexibility Reduces Churn</a:t>
            </a:r>
          </a:p>
          <a:p>
            <a:r>
              <a:rPr lang="en-US" sz="1800" dirty="0">
                <a:latin typeface="Aptos Narrow" panose="020B0004020202020204" pitchFamily="34" charset="0"/>
              </a:rPr>
              <a:t>Automatic Bank Transfer &amp; Credit Card users show </a:t>
            </a:r>
            <a:r>
              <a:rPr lang="en-US" sz="1800" b="1" dirty="0">
                <a:latin typeface="Aptos Narrow" panose="020B0004020202020204" pitchFamily="34" charset="0"/>
              </a:rPr>
              <a:t>very low churn</a:t>
            </a:r>
            <a:r>
              <a:rPr lang="en-US" sz="1800" dirty="0">
                <a:latin typeface="Aptos Narrow" panose="020B0004020202020204" pitchFamily="34" charset="0"/>
              </a:rPr>
              <a:t>, suggesting convenience encourages retention.</a:t>
            </a:r>
          </a:p>
          <a:p>
            <a:endParaRPr lang="en-US" sz="1800" dirty="0">
              <a:latin typeface="Aptos Narrow" panose="020B0004020202020204" pitchFamily="34" charset="0"/>
            </a:endParaRPr>
          </a:p>
          <a:p>
            <a:r>
              <a:rPr lang="en-US" sz="1800" b="1" dirty="0">
                <a:latin typeface="Aptos Narrow" panose="020B0004020202020204" pitchFamily="34" charset="0"/>
              </a:rPr>
              <a:t> 6. Customer Value Grows with Contract Length</a:t>
            </a:r>
          </a:p>
          <a:p>
            <a:r>
              <a:rPr lang="en-US" sz="1800" dirty="0">
                <a:latin typeface="Aptos Narrow" panose="020B0004020202020204" pitchFamily="34" charset="0"/>
              </a:rPr>
              <a:t>Two-year contract customers bring </a:t>
            </a:r>
            <a:r>
              <a:rPr lang="en-US" sz="1800" b="1" dirty="0">
                <a:latin typeface="Aptos Narrow" panose="020B0004020202020204" pitchFamily="34" charset="0"/>
              </a:rPr>
              <a:t>highest total charges</a:t>
            </a:r>
            <a:r>
              <a:rPr lang="en-US" sz="1800" dirty="0">
                <a:latin typeface="Aptos Narrow" panose="020B0004020202020204" pitchFamily="34" charset="0"/>
              </a:rPr>
              <a:t>, indicating long-term customers are more profitable.</a:t>
            </a:r>
          </a:p>
          <a:p>
            <a:endParaRPr lang="en-US" sz="1800" dirty="0">
              <a:latin typeface="Aptos Narrow" panose="020B0004020202020204" pitchFamily="34" charset="0"/>
            </a:endParaRPr>
          </a:p>
          <a:p>
            <a:r>
              <a:rPr lang="en-US" sz="1800" b="1" dirty="0">
                <a:latin typeface="Aptos Narrow" panose="020B0004020202020204" pitchFamily="34" charset="0"/>
              </a:rPr>
              <a:t> 7. Customers Without Phone Service Churn Less</a:t>
            </a:r>
          </a:p>
          <a:p>
            <a:r>
              <a:rPr lang="en-US" sz="1800" dirty="0">
                <a:latin typeface="Aptos Narrow" panose="020B0004020202020204" pitchFamily="34" charset="0"/>
              </a:rPr>
              <a:t>Users with No Phone Service show </a:t>
            </a:r>
            <a:r>
              <a:rPr lang="en-US" sz="1800" b="1" dirty="0">
                <a:latin typeface="Aptos Narrow" panose="020B0004020202020204" pitchFamily="34" charset="0"/>
              </a:rPr>
              <a:t>lower churn</a:t>
            </a:r>
            <a:r>
              <a:rPr lang="en-US" sz="1800" dirty="0">
                <a:latin typeface="Aptos Narrow" panose="020B0004020202020204" pitchFamily="34" charset="0"/>
              </a:rPr>
              <a:t>, possibly due to simplified billing.</a:t>
            </a:r>
          </a:p>
          <a:p>
            <a:endParaRPr lang="en-US" sz="1800" dirty="0">
              <a:latin typeface="Aptos Narrow" panose="020B0004020202020204" pitchFamily="34" charset="0"/>
            </a:endParaRPr>
          </a:p>
          <a:p>
            <a:r>
              <a:rPr lang="en-US" sz="1800" b="1" dirty="0">
                <a:latin typeface="Aptos Narrow" panose="020B0004020202020204" pitchFamily="34" charset="0"/>
              </a:rPr>
              <a:t> 8. No Major Gender Bias in Churn</a:t>
            </a:r>
          </a:p>
          <a:p>
            <a:r>
              <a:rPr lang="en-US" sz="1800" dirty="0">
                <a:latin typeface="Aptos Narrow" panose="020B0004020202020204" pitchFamily="34" charset="0"/>
              </a:rPr>
              <a:t>Male and Female customers churn almost equally, meaning churn is driven by </a:t>
            </a:r>
            <a:r>
              <a:rPr lang="en-US" sz="1800" b="1" dirty="0">
                <a:latin typeface="Aptos Narrow" panose="020B0004020202020204" pitchFamily="34" charset="0"/>
              </a:rPr>
              <a:t>service/contract factors</a:t>
            </a:r>
            <a:r>
              <a:rPr lang="en-US" sz="1800" dirty="0">
                <a:latin typeface="Aptos Narrow" panose="020B0004020202020204" pitchFamily="34" charset="0"/>
              </a:rPr>
              <a:t>, not demographics.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24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451D-FB64-6B6A-BDAB-03B29552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9"/>
            <a:ext cx="10515600" cy="67842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Experience &amp;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C74BD-6F97-4192-8287-6E85338BC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45574"/>
            <a:ext cx="10515600" cy="537824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1800" b="1" dirty="0">
              <a:latin typeface="Aptos Narrow" panose="020B0004020202020204" pitchFamily="34" charset="0"/>
            </a:endParaRPr>
          </a:p>
          <a:p>
            <a:pPr marL="114300" indent="0">
              <a:buNone/>
            </a:pPr>
            <a:r>
              <a:rPr lang="en-US" sz="1800" b="1" dirty="0">
                <a:latin typeface="Aptos Narrow" panose="020B0004020202020204" pitchFamily="34" charset="0"/>
              </a:rPr>
              <a:t>✔ Experience Gained</a:t>
            </a:r>
          </a:p>
          <a:p>
            <a:r>
              <a:rPr lang="en-US" sz="1800" dirty="0">
                <a:latin typeface="Aptos Narrow" panose="020B0004020202020204" pitchFamily="34" charset="0"/>
              </a:rPr>
              <a:t>Learned how to </a:t>
            </a:r>
            <a:r>
              <a:rPr lang="en-US" sz="1800" b="1" dirty="0">
                <a:latin typeface="Aptos Narrow" panose="020B0004020202020204" pitchFamily="34" charset="0"/>
              </a:rPr>
              <a:t>clean, transform, and model data</a:t>
            </a:r>
            <a:r>
              <a:rPr lang="en-US" sz="1800" dirty="0">
                <a:latin typeface="Aptos Narrow" panose="020B0004020202020204" pitchFamily="34" charset="0"/>
              </a:rPr>
              <a:t> using Power Query.</a:t>
            </a:r>
          </a:p>
          <a:p>
            <a:r>
              <a:rPr lang="en-US" sz="1800" dirty="0">
                <a:latin typeface="Aptos Narrow" panose="020B0004020202020204" pitchFamily="34" charset="0"/>
              </a:rPr>
              <a:t>Built </a:t>
            </a:r>
            <a:r>
              <a:rPr lang="en-US" sz="1800" b="1" dirty="0">
                <a:latin typeface="Aptos Narrow" panose="020B0004020202020204" pitchFamily="34" charset="0"/>
              </a:rPr>
              <a:t>interactive dashboards</a:t>
            </a:r>
            <a:r>
              <a:rPr lang="en-US" sz="1800" dirty="0">
                <a:latin typeface="Aptos Narrow" panose="020B0004020202020204" pitchFamily="34" charset="0"/>
              </a:rPr>
              <a:t> using cards, slicers, and advanced visuals.</a:t>
            </a:r>
          </a:p>
          <a:p>
            <a:r>
              <a:rPr lang="en-US" sz="1800" dirty="0">
                <a:latin typeface="Aptos Narrow" panose="020B0004020202020204" pitchFamily="34" charset="0"/>
              </a:rPr>
              <a:t>Improved skills in </a:t>
            </a:r>
            <a:r>
              <a:rPr lang="en-US" sz="1800" b="1" dirty="0">
                <a:latin typeface="Aptos Narrow" panose="020B0004020202020204" pitchFamily="34" charset="0"/>
              </a:rPr>
              <a:t>DAX calculations</a:t>
            </a:r>
            <a:r>
              <a:rPr lang="en-US" sz="1800" dirty="0">
                <a:latin typeface="Aptos Narrow" panose="020B0004020202020204" pitchFamily="34" charset="0"/>
              </a:rPr>
              <a:t> (churn rate, averages).</a:t>
            </a:r>
          </a:p>
          <a:p>
            <a:r>
              <a:rPr lang="en-US" sz="1800" dirty="0">
                <a:latin typeface="Aptos Narrow" panose="020B0004020202020204" pitchFamily="34" charset="0"/>
              </a:rPr>
              <a:t>Learned to create </a:t>
            </a:r>
            <a:r>
              <a:rPr lang="en-US" sz="1800" b="1" dirty="0">
                <a:latin typeface="Aptos Narrow" panose="020B0004020202020204" pitchFamily="34" charset="0"/>
              </a:rPr>
              <a:t>relationships</a:t>
            </a:r>
            <a:r>
              <a:rPr lang="en-US" sz="1800" dirty="0">
                <a:latin typeface="Aptos Narrow" panose="020B0004020202020204" pitchFamily="34" charset="0"/>
              </a:rPr>
              <a:t>, use measures, and optimize visuals for clarity.</a:t>
            </a:r>
          </a:p>
          <a:p>
            <a:pPr marL="114300" indent="0">
              <a:buNone/>
            </a:pPr>
            <a:endParaRPr lang="en-US" sz="1800" dirty="0">
              <a:latin typeface="Aptos Narrow" panose="020B0004020202020204" pitchFamily="34" charset="0"/>
            </a:endParaRPr>
          </a:p>
          <a:p>
            <a:pPr marL="114300" indent="0">
              <a:buNone/>
            </a:pPr>
            <a:r>
              <a:rPr lang="en-US" sz="1900" b="1" dirty="0">
                <a:latin typeface="Aptos Narrow" panose="020B0004020202020204" pitchFamily="34" charset="0"/>
              </a:rPr>
              <a:t>⚠ Challenges Faced</a:t>
            </a:r>
          </a:p>
          <a:p>
            <a:r>
              <a:rPr lang="en-US" sz="1900" dirty="0">
                <a:latin typeface="Aptos Narrow" panose="020B0004020202020204" pitchFamily="34" charset="0"/>
              </a:rPr>
              <a:t>Handling inconsistent data formats and </a:t>
            </a:r>
            <a:r>
              <a:rPr lang="en-US" sz="1900" b="1" dirty="0">
                <a:latin typeface="Aptos Narrow" panose="020B0004020202020204" pitchFamily="34" charset="0"/>
              </a:rPr>
              <a:t>cleaning missing/blank values</a:t>
            </a:r>
            <a:r>
              <a:rPr lang="en-US" sz="1900" dirty="0">
                <a:latin typeface="Aptos Narrow" panose="020B0004020202020204" pitchFamily="34" charset="0"/>
              </a:rPr>
              <a:t>.</a:t>
            </a:r>
          </a:p>
          <a:p>
            <a:r>
              <a:rPr lang="en-US" sz="1900" dirty="0">
                <a:latin typeface="Aptos Narrow" panose="020B0004020202020204" pitchFamily="34" charset="0"/>
              </a:rPr>
              <a:t>Difficulty in identifying correct </a:t>
            </a:r>
            <a:r>
              <a:rPr lang="en-US" sz="1900" b="1" dirty="0">
                <a:latin typeface="Aptos Narrow" panose="020B0004020202020204" pitchFamily="34" charset="0"/>
              </a:rPr>
              <a:t>DAX formulas</a:t>
            </a:r>
            <a:r>
              <a:rPr lang="en-US" sz="1900" dirty="0">
                <a:latin typeface="Aptos Narrow" panose="020B0004020202020204" pitchFamily="34" charset="0"/>
              </a:rPr>
              <a:t> for KPIs.</a:t>
            </a:r>
          </a:p>
          <a:p>
            <a:r>
              <a:rPr lang="en-US" sz="1900" dirty="0">
                <a:latin typeface="Aptos Narrow" panose="020B0004020202020204" pitchFamily="34" charset="0"/>
              </a:rPr>
              <a:t>Making the dashboard </a:t>
            </a:r>
            <a:r>
              <a:rPr lang="en-US" sz="1900" b="1" dirty="0">
                <a:latin typeface="Aptos Narrow" panose="020B0004020202020204" pitchFamily="34" charset="0"/>
              </a:rPr>
              <a:t>visually clear</a:t>
            </a:r>
            <a:r>
              <a:rPr lang="en-US" sz="1900" dirty="0">
                <a:latin typeface="Aptos Narrow" panose="020B0004020202020204" pitchFamily="34" charset="0"/>
              </a:rPr>
              <a:t> without cluttering too many charts.</a:t>
            </a:r>
          </a:p>
          <a:p>
            <a:r>
              <a:rPr lang="en-US" sz="1900" dirty="0">
                <a:latin typeface="Aptos Narrow" panose="020B0004020202020204" pitchFamily="34" charset="0"/>
              </a:rPr>
              <a:t>Ensuring relationships were correct in the </a:t>
            </a:r>
            <a:r>
              <a:rPr lang="en-US" sz="1900" b="1" dirty="0">
                <a:latin typeface="Aptos Narrow" panose="020B0004020202020204" pitchFamily="34" charset="0"/>
              </a:rPr>
              <a:t>data model view</a:t>
            </a:r>
            <a:r>
              <a:rPr lang="en-US" sz="1900" dirty="0">
                <a:latin typeface="Aptos Narrow" panose="020B0004020202020204" pitchFamily="34" charset="0"/>
              </a:rPr>
              <a:t>.</a:t>
            </a:r>
          </a:p>
          <a:p>
            <a:r>
              <a:rPr lang="en-US" sz="1900" dirty="0">
                <a:latin typeface="Aptos Narrow" panose="020B0004020202020204" pitchFamily="34" charset="0"/>
              </a:rPr>
              <a:t>Managing performance after adding multiple visuals.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85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83AE-08C4-DB8E-A6AF-3422F89DC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309" y="235974"/>
            <a:ext cx="10756491" cy="63909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Conclusion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ADD64D-7722-9277-A05A-067E6629B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1949" y="956902"/>
            <a:ext cx="1034353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This project successfully analyzed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Telecom Customer Churn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using a fully interactive Power BI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analysis highlighted key churn drivers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contract type, internet service, paperless billing, and tenure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High-risk customer segments were clearly identified, enabling data-driven decision-making for retention strategies.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KPIs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Total Customers, Churned Customers, Churn Rate, and Average Charges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provided a quick business overview.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Visual insights revealed that short-tenure customers and month-to-month contracts have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highest churn probability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The dashboard empowers telecom companies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reduce churn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improve customer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optimize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by focusing on the most vulnerable segments.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Overall, the project demonstrates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Power BI transforms raw data into meaningful, actionable business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306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838</Words>
  <Application>Microsoft Office PowerPoint</Application>
  <PresentationFormat>Widescreen</PresentationFormat>
  <Paragraphs>114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Libre Baskerville</vt:lpstr>
      <vt:lpstr>Arial</vt:lpstr>
      <vt:lpstr>Calibri</vt:lpstr>
      <vt:lpstr>Aptos Narrow</vt:lpstr>
      <vt:lpstr>Lato Black</vt:lpstr>
      <vt:lpstr>Office Theme</vt:lpstr>
      <vt:lpstr>PowerPoint Presentation</vt:lpstr>
      <vt:lpstr>About :</vt:lpstr>
      <vt:lpstr>PowerPoint Presentation</vt:lpstr>
      <vt:lpstr>Project Objective :</vt:lpstr>
      <vt:lpstr>Purposes of the Dataset :</vt:lpstr>
      <vt:lpstr>Data Preparation :</vt:lpstr>
      <vt:lpstr>Key Visuals:</vt:lpstr>
      <vt:lpstr>PowerPoint Presentation</vt:lpstr>
      <vt:lpstr>PowerPoint Presentation</vt:lpstr>
      <vt:lpstr>Dashboard :</vt:lpstr>
      <vt:lpstr>Key Insights from Analysis :</vt:lpstr>
      <vt:lpstr>PowerPoint Presentation</vt:lpstr>
      <vt:lpstr>Experience &amp; Challenges</vt:lpstr>
      <vt:lpstr>Conclusion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VAISHNAVI CHOUGULE</cp:lastModifiedBy>
  <cp:revision>3</cp:revision>
  <dcterms:created xsi:type="dcterms:W3CDTF">2021-02-16T05:19:01Z</dcterms:created>
  <dcterms:modified xsi:type="dcterms:W3CDTF">2025-12-13T02:51:53Z</dcterms:modified>
</cp:coreProperties>
</file>